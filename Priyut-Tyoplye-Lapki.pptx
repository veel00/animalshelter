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Noto Sans Bold" panose="020B0604020202020204" charset="0"/>
      <p:regular r:id="rId14"/>
    </p:embeddedFont>
    <p:embeddedFont>
      <p:font typeface="Noto Sans SemiBold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C463"/>
    <a:srgbClr val="FFF7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1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64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1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883" y="476377"/>
            <a:ext cx="5759533" cy="1941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5200" b="1" kern="100" spc="-52" dirty="0" err="1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Приют</a:t>
            </a:r>
            <a:r>
              <a:rPr lang="en-US" sz="5200" b="1" kern="100" spc="-52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 </a:t>
            </a:r>
            <a:endParaRPr lang="ru-RU" sz="5200" b="1" kern="100" spc="-52" dirty="0" smtClean="0">
              <a:solidFill>
                <a:srgbClr val="1F2A5C"/>
              </a:solidFill>
              <a:latin typeface="Noto Sans Bold" pitchFamily="34" charset="0"/>
              <a:ea typeface="Noto Sans Bold" pitchFamily="34" charset="-122"/>
              <a:cs typeface="Noto Sans Bold" pitchFamily="34" charset="-120"/>
            </a:endParaRPr>
          </a:p>
          <a:p>
            <a:pPr marL="0" indent="0" algn="l">
              <a:lnSpc>
                <a:spcPct val="82000"/>
              </a:lnSpc>
              <a:buNone/>
            </a:pPr>
            <a:r>
              <a:rPr lang="en-US" sz="5200" b="1" kern="100" spc="-52" dirty="0" smtClean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«</a:t>
            </a:r>
            <a:r>
              <a:rPr lang="en-US" sz="5200" b="1" kern="100" spc="-52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Тёплые Лапки»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09585" y="2453918"/>
            <a:ext cx="5363703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Мобильное приложение-симулятор заботы о животных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67821" y="5165767"/>
            <a:ext cx="4413194" cy="77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F587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Автор: </a:t>
            </a:r>
            <a:r>
              <a:rPr lang="ru-RU" sz="1500" dirty="0" smtClean="0">
                <a:solidFill>
                  <a:srgbClr val="4F587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Черевенко А.В.</a:t>
            </a:r>
            <a:endParaRPr lang="ru-RU" sz="15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500" kern="900" dirty="0" err="1" smtClean="0">
                <a:solidFill>
                  <a:srgbClr val="4F587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Группа</a:t>
            </a:r>
            <a:r>
              <a:rPr lang="ru-RU" sz="1500" kern="900" dirty="0" smtClean="0">
                <a:solidFill>
                  <a:srgbClr val="4F587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: 53-02</a:t>
            </a:r>
            <a:endParaRPr lang="en-US" sz="1500" kern="900" dirty="0"/>
          </a:p>
        </p:txBody>
      </p:sp>
      <p:sp>
        <p:nvSpPr>
          <p:cNvPr id="5" name="Shape 3"/>
          <p:cNvSpPr/>
          <p:nvPr/>
        </p:nvSpPr>
        <p:spPr>
          <a:xfrm>
            <a:off x="609585" y="5791200"/>
            <a:ext cx="1797402" cy="63500"/>
          </a:xfrm>
          <a:prstGeom prst="rect">
            <a:avLst/>
          </a:prstGeom>
          <a:solidFill>
            <a:srgbClr val="F7C6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987" y="5041900"/>
            <a:ext cx="1562061" cy="15621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982" y="0"/>
            <a:ext cx="599871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131" y="1465039"/>
            <a:ext cx="11378915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b="1" kern="100" spc="-44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Актуальность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35138" y="2854484"/>
            <a:ext cx="11378915" cy="885130"/>
          </a:xfrm>
          <a:prstGeom prst="roundRect">
            <a:avLst>
              <a:gd name="adj" fmla="val 48209"/>
            </a:avLst>
          </a:prstGeom>
          <a:solidFill>
            <a:srgbClr val="BFE3F5"/>
          </a:solidFill>
          <a:ln/>
        </p:spPr>
      </p:sp>
      <p:sp>
        <p:nvSpPr>
          <p:cNvPr id="4" name="Text 2"/>
          <p:cNvSpPr/>
          <p:nvPr/>
        </p:nvSpPr>
        <p:spPr>
          <a:xfrm>
            <a:off x="589131" y="3118961"/>
            <a:ext cx="11124922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47040" indent="-447040" algn="l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Идея: использовать геймификацию для воспитания эмпатии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5138" y="4196814"/>
            <a:ext cx="11378915" cy="885130"/>
          </a:xfrm>
          <a:prstGeom prst="roundRect">
            <a:avLst>
              <a:gd name="adj" fmla="val 48209"/>
            </a:avLst>
          </a:prstGeom>
          <a:solidFill>
            <a:srgbClr val="F7C64A"/>
          </a:solidFill>
          <a:ln/>
        </p:spPr>
      </p:sp>
      <p:sp>
        <p:nvSpPr>
          <p:cNvPr id="6" name="Text 4"/>
          <p:cNvSpPr/>
          <p:nvPr/>
        </p:nvSpPr>
        <p:spPr>
          <a:xfrm>
            <a:off x="704917" y="4461292"/>
            <a:ext cx="1100913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47040" indent="-447040" algn="l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Приютам удаётся ежегодно пристраивать около 30% своих подопечных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49128">
            <a:off x="10875098" y="5778721"/>
            <a:ext cx="1562061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078" y="1118426"/>
            <a:ext cx="10972526" cy="395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50" b="1" kern="100" spc="-31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Цель и задачи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936048">
            <a:off x="10967574" y="-439387"/>
            <a:ext cx="1562061" cy="15621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85" y="2178843"/>
            <a:ext cx="10972526" cy="902891"/>
          </a:xfrm>
          <a:prstGeom prst="roundRect">
            <a:avLst>
              <a:gd name="adj" fmla="val 47260"/>
            </a:avLst>
          </a:prstGeom>
          <a:solidFill>
            <a:srgbClr val="E6F0F7"/>
          </a:solidFill>
          <a:ln/>
        </p:spPr>
      </p:sp>
      <p:sp>
        <p:nvSpPr>
          <p:cNvPr id="5" name="Text 2"/>
          <p:cNvSpPr/>
          <p:nvPr/>
        </p:nvSpPr>
        <p:spPr>
          <a:xfrm>
            <a:off x="863578" y="2373947"/>
            <a:ext cx="10464538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Цель:</a:t>
            </a:r>
            <a:r>
              <a:rPr lang="en-US" sz="175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разработать Android-приложение на Kotlin, симулирующее управление приютом для животных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09585" y="3295253"/>
            <a:ext cx="5410065" cy="815777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3422253"/>
            <a:ext cx="561763" cy="5617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74661" y="3439557"/>
            <a:ext cx="4292592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55600" indent="-355600" algn="l">
              <a:lnSpc>
                <a:spcPct val="101000"/>
              </a:lnSpc>
              <a:buSzPct val="100000"/>
              <a:buChar char="•"/>
            </a:pPr>
            <a:r>
              <a:rPr lang="en-US" sz="175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Спроектировать архитектуру 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6172046" y="3295253"/>
            <a:ext cx="5410065" cy="815777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442" y="3422253"/>
            <a:ext cx="561763" cy="5617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7122" y="3439557"/>
            <a:ext cx="4190994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01000"/>
              </a:lnSpc>
              <a:buSzPct val="100000"/>
              <a:buChar char="•"/>
            </a:pPr>
            <a:r>
              <a:rPr lang="en-US" sz="175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Реализовать 4 экрана с навигацией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09585" y="4263330"/>
            <a:ext cx="5410065" cy="815975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4390330"/>
            <a:ext cx="561763" cy="5617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4661" y="4407634"/>
            <a:ext cx="4190994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01000"/>
              </a:lnSpc>
              <a:buSzPct val="100000"/>
              <a:buChar char="•"/>
            </a:pPr>
            <a:r>
              <a:rPr lang="en-US" sz="175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Создать игровую механику с экономикой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6172046" y="4263330"/>
            <a:ext cx="5410065" cy="815975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442" y="4390330"/>
            <a:ext cx="561763" cy="56177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37122" y="4407634"/>
            <a:ext cx="4190994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55600" indent="-355600" algn="l">
              <a:lnSpc>
                <a:spcPct val="101000"/>
              </a:lnSpc>
              <a:buSzPct val="100000"/>
              <a:buChar char="•"/>
            </a:pPr>
            <a:r>
              <a:rPr lang="en-US" sz="175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Добавить фоновые задачи (WorkManager)</a:t>
            </a:r>
            <a:endParaRPr lang="en-US" sz="1750" dirty="0"/>
          </a:p>
        </p:txBody>
      </p:sp>
      <p:sp>
        <p:nvSpPr>
          <p:cNvPr id="18" name="Shape 11"/>
          <p:cNvSpPr/>
          <p:nvPr/>
        </p:nvSpPr>
        <p:spPr>
          <a:xfrm>
            <a:off x="609585" y="5231606"/>
            <a:ext cx="10972526" cy="815777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5358606"/>
            <a:ext cx="561763" cy="56177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74959" y="5375910"/>
            <a:ext cx="9854755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55600" indent="-355600" algn="l">
              <a:lnSpc>
                <a:spcPct val="101000"/>
              </a:lnSpc>
              <a:buSzPct val="100000"/>
              <a:buChar char="•"/>
            </a:pPr>
            <a:r>
              <a:rPr lang="en-US" sz="175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Реализовать систему достижений и ежедневных заданий</a:t>
            </a:r>
            <a:endParaRPr lang="en-US" sz="175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10919361" y="6501740"/>
            <a:ext cx="1272639" cy="35626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4" y="855128"/>
            <a:ext cx="11582110" cy="15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100" spc="20" dirty="0">
                <a:solidFill>
                  <a:srgbClr val="4F587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ИГРОВОЙ МИР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75295">
            <a:off x="2863678" y="5635294"/>
            <a:ext cx="1562061" cy="1562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4" y="1067231"/>
            <a:ext cx="10972526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550" b="1" kern="100" spc="-25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Концепция игры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558586" y="1645648"/>
            <a:ext cx="4267093" cy="3568898"/>
          </a:xfrm>
          <a:prstGeom prst="roundRect">
            <a:avLst>
              <a:gd name="adj" fmla="val 11956"/>
            </a:avLst>
          </a:prstGeom>
          <a:solidFill>
            <a:srgbClr val="E6F0F7"/>
          </a:solidFill>
          <a:ln/>
        </p:spPr>
      </p:sp>
      <p:sp>
        <p:nvSpPr>
          <p:cNvPr id="6" name="Text 3"/>
          <p:cNvSpPr/>
          <p:nvPr/>
        </p:nvSpPr>
        <p:spPr>
          <a:xfrm>
            <a:off x="837979" y="2832999"/>
            <a:ext cx="3708307" cy="1194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96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4 параметра питомца: голод, здоровье, настроение, стоимость содержания</a:t>
            </a:r>
            <a:endParaRPr lang="en-US" sz="1550" dirty="0"/>
          </a:p>
          <a:p>
            <a:pPr marL="314960" indent="-314960" algn="l">
              <a:lnSpc>
                <a:spcPct val="96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Ресурсы: монеты </a:t>
            </a:r>
            <a:r>
              <a:rPr lang="en-US" sz="15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💰</a:t>
            </a:r>
            <a:r>
              <a:rPr lang="en-US" sz="155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, еда </a:t>
            </a:r>
            <a:r>
              <a:rPr lang="en-US" sz="15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🍖</a:t>
            </a:r>
            <a:r>
              <a:rPr lang="en-US" sz="155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, лекарства </a:t>
            </a:r>
            <a:r>
              <a:rPr lang="en-US" sz="15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💊</a:t>
            </a:r>
            <a:r>
              <a:rPr lang="en-US" sz="155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, игрушки </a:t>
            </a:r>
            <a:r>
              <a:rPr lang="en-US" sz="15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🎾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308168" y="1989211"/>
            <a:ext cx="6222944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14960" indent="-314960" algn="l">
              <a:lnSpc>
                <a:spcPct val="96000"/>
              </a:lnSpc>
              <a:buSzPct val="100000"/>
              <a:buChar char="•"/>
            </a:pPr>
            <a:r>
              <a:rPr lang="en-US" sz="155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3 типа животных: собаки, кролики, козочки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130372" y="2431560"/>
            <a:ext cx="2031949" cy="2554387"/>
          </a:xfrm>
          <a:prstGeom prst="roundRect">
            <a:avLst>
              <a:gd name="adj" fmla="val 21000"/>
            </a:avLst>
          </a:prstGeom>
          <a:solidFill>
            <a:srgbClr val="F6B6C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369" y="2609360"/>
            <a:ext cx="1777956" cy="17779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369" y="4573385"/>
            <a:ext cx="1777956" cy="256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850" b="1" kern="100" spc="-9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Собака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7314718" y="2431560"/>
            <a:ext cx="2031949" cy="2554387"/>
          </a:xfrm>
          <a:prstGeom prst="roundRect">
            <a:avLst>
              <a:gd name="adj" fmla="val 21000"/>
            </a:avLst>
          </a:prstGeom>
          <a:solidFill>
            <a:srgbClr val="BFE3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1714" y="2609360"/>
            <a:ext cx="1777956" cy="17779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41714" y="4573385"/>
            <a:ext cx="1777956" cy="256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850" b="1" kern="100" spc="-9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Кролик</a:t>
            </a:r>
            <a:endParaRPr lang="en-US" sz="1850" dirty="0"/>
          </a:p>
        </p:txBody>
      </p:sp>
      <p:sp>
        <p:nvSpPr>
          <p:cNvPr id="14" name="Shape 9"/>
          <p:cNvSpPr/>
          <p:nvPr/>
        </p:nvSpPr>
        <p:spPr>
          <a:xfrm>
            <a:off x="9499063" y="2431560"/>
            <a:ext cx="2032048" cy="2554387"/>
          </a:xfrm>
          <a:prstGeom prst="roundRect">
            <a:avLst>
              <a:gd name="adj" fmla="val 20999"/>
            </a:avLst>
          </a:prstGeom>
          <a:solidFill>
            <a:srgbClr val="F7C64A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6060" y="2609360"/>
            <a:ext cx="1778055" cy="1778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26060" y="4573485"/>
            <a:ext cx="1778055" cy="256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850" b="1" kern="100" spc="-9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Козочка</a:t>
            </a:r>
            <a:endParaRPr lang="en-US" sz="185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10919361" y="6501740"/>
            <a:ext cx="1272639" cy="35626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570" y="1188122"/>
            <a:ext cx="1158211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100" spc="20" dirty="0">
                <a:solidFill>
                  <a:srgbClr val="4F587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АРХИТЕКТУРА ИНТЕРФЕЙСА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168003">
            <a:off x="6358938" y="-101893"/>
            <a:ext cx="1562061" cy="1562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9570" y="1372217"/>
            <a:ext cx="10972526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b="1" kern="100" spc="-33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Экраны приложения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03369" y="2130822"/>
            <a:ext cx="5333867" cy="1569244"/>
          </a:xfrm>
          <a:prstGeom prst="roundRect">
            <a:avLst>
              <a:gd name="adj" fmla="val 27192"/>
            </a:avLst>
          </a:prstGeom>
          <a:solidFill>
            <a:srgbClr val="F6B6C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762" y="2365772"/>
            <a:ext cx="377915" cy="503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59556" y="2484894"/>
            <a:ext cx="3698286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00" b="1" kern="100" spc="-12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Главный экран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982762" y="3010503"/>
            <a:ext cx="4775081" cy="468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25120" indent="-325120" algn="l">
              <a:lnSpc>
                <a:spcPct val="9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MainFragment — список питомцев + FAB «Подобрать»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342028" y="2130822"/>
            <a:ext cx="5333867" cy="1569244"/>
          </a:xfrm>
          <a:prstGeom prst="roundRect">
            <a:avLst>
              <a:gd name="adj" fmla="val 27192"/>
            </a:avLst>
          </a:prstGeom>
          <a:solidFill>
            <a:srgbClr val="F7C64A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421" y="2359422"/>
            <a:ext cx="440917" cy="5038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98215" y="2478544"/>
            <a:ext cx="3698286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00" b="1" kern="100" spc="-12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Детали питомца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6621421" y="3004153"/>
            <a:ext cx="4775081" cy="481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9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PetDetailFragment — детали + действия + сердечки </a:t>
            </a: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❤️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03369" y="4004866"/>
            <a:ext cx="5333867" cy="1569244"/>
          </a:xfrm>
          <a:prstGeom prst="roundRect">
            <a:avLst>
              <a:gd name="adj" fmla="val 27192"/>
            </a:avLst>
          </a:prstGeom>
          <a:solidFill>
            <a:srgbClr val="BFE3F5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762" y="4407297"/>
            <a:ext cx="503820" cy="40302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059556" y="4476016"/>
            <a:ext cx="3698286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00" b="1" kern="100" spc="-12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Магазин приюта</a:t>
            </a:r>
            <a:endParaRPr lang="en-US" sz="2300" dirty="0"/>
          </a:p>
        </p:txBody>
      </p:sp>
      <p:sp>
        <p:nvSpPr>
          <p:cNvPr id="16" name="Text 10"/>
          <p:cNvSpPr/>
          <p:nvPr/>
        </p:nvSpPr>
        <p:spPr>
          <a:xfrm>
            <a:off x="982762" y="4951221"/>
            <a:ext cx="5054474" cy="234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9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ShopFragment — магазин (4 товара)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342028" y="4004866"/>
            <a:ext cx="5333867" cy="1569244"/>
          </a:xfrm>
          <a:prstGeom prst="roundRect">
            <a:avLst>
              <a:gd name="adj" fmla="val 27192"/>
            </a:avLst>
          </a:prstGeom>
          <a:solidFill>
            <a:srgbClr val="F08C3E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1421" y="4384973"/>
            <a:ext cx="503820" cy="44777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98215" y="4476016"/>
            <a:ext cx="3698286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00" b="1" kern="100" spc="-12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Статистика</a:t>
            </a:r>
            <a:endParaRPr lang="en-US" sz="2300" dirty="0"/>
          </a:p>
        </p:txBody>
      </p:sp>
      <p:sp>
        <p:nvSpPr>
          <p:cNvPr id="20" name="Text 13"/>
          <p:cNvSpPr/>
          <p:nvPr/>
        </p:nvSpPr>
        <p:spPr>
          <a:xfrm>
            <a:off x="6621421" y="4973645"/>
            <a:ext cx="5054474" cy="234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97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StatsFragment — статистика + достижения</a:t>
            </a:r>
            <a:endParaRPr lang="en-US" sz="16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10919361" y="6501740"/>
            <a:ext cx="1272639" cy="35626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70189"/>
            <a:ext cx="10972526" cy="481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700" b="1" kern="100" spc="-37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База данных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89519">
            <a:off x="10779689" y="5795191"/>
            <a:ext cx="1604841" cy="1604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1722861"/>
            <a:ext cx="1158211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80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4 таблицы: Pet, Inventory, AdoptedPets, PlayerState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09585" y="2197161"/>
            <a:ext cx="2346862" cy="857945"/>
          </a:xfrm>
          <a:prstGeom prst="roundRect">
            <a:avLst>
              <a:gd name="adj" fmla="val 49736"/>
            </a:avLst>
          </a:prstGeom>
          <a:solidFill>
            <a:srgbClr val="F6B6C1"/>
          </a:solidFill>
          <a:ln/>
        </p:spPr>
      </p:sp>
      <p:sp>
        <p:nvSpPr>
          <p:cNvPr id="6" name="Text 3"/>
          <p:cNvSpPr/>
          <p:nvPr/>
        </p:nvSpPr>
        <p:spPr>
          <a:xfrm>
            <a:off x="838179" y="2477315"/>
            <a:ext cx="1889673" cy="3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kern="100" spc="-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Pet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413536" y="2454142"/>
            <a:ext cx="1676358" cy="400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60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547082" y="2197161"/>
            <a:ext cx="6035028" cy="857945"/>
          </a:xfrm>
          <a:prstGeom prst="roundRect">
            <a:avLst>
              <a:gd name="adj" fmla="val 49736"/>
            </a:avLst>
          </a:prstGeom>
          <a:solidFill>
            <a:srgbClr val="8CC463"/>
          </a:solidFill>
          <a:ln/>
        </p:spPr>
      </p:sp>
      <p:sp>
        <p:nvSpPr>
          <p:cNvPr id="9" name="Text 6"/>
          <p:cNvSpPr/>
          <p:nvPr/>
        </p:nvSpPr>
        <p:spPr>
          <a:xfrm>
            <a:off x="5775677" y="2477315"/>
            <a:ext cx="5577839" cy="3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kern="100" spc="-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AdoptedPets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609585" y="3512306"/>
            <a:ext cx="4749384" cy="857945"/>
          </a:xfrm>
          <a:prstGeom prst="roundRect">
            <a:avLst>
              <a:gd name="adj" fmla="val 49736"/>
            </a:avLst>
          </a:prstGeom>
          <a:solidFill>
            <a:srgbClr val="BFE3F5"/>
          </a:solidFill>
          <a:ln/>
        </p:spPr>
      </p:sp>
      <p:sp>
        <p:nvSpPr>
          <p:cNvPr id="11" name="Text 8"/>
          <p:cNvSpPr/>
          <p:nvPr/>
        </p:nvSpPr>
        <p:spPr>
          <a:xfrm>
            <a:off x="838179" y="3792459"/>
            <a:ext cx="4292195" cy="3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kern="100" spc="-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Inventory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816058" y="3512306"/>
            <a:ext cx="5766053" cy="857945"/>
          </a:xfrm>
          <a:prstGeom prst="roundRect">
            <a:avLst>
              <a:gd name="adj" fmla="val 49736"/>
            </a:avLst>
          </a:prstGeom>
          <a:solidFill>
            <a:srgbClr val="F08C3E"/>
          </a:solidFill>
          <a:ln/>
        </p:spPr>
      </p:sp>
      <p:sp>
        <p:nvSpPr>
          <p:cNvPr id="13" name="Text 10"/>
          <p:cNvSpPr/>
          <p:nvPr/>
        </p:nvSpPr>
        <p:spPr>
          <a:xfrm>
            <a:off x="6044652" y="3792459"/>
            <a:ext cx="5308864" cy="3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kern="100" spc="-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PlayerState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09585" y="4585853"/>
            <a:ext cx="10972526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02000"/>
              </a:lnSpc>
              <a:buSzPct val="100000"/>
              <a:buChar char="•"/>
            </a:pPr>
            <a:r>
              <a:rPr lang="en-US" sz="180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Связь жизненного цикла: при устройстве запись сохраняется в AdoptedPets, питомец удаляется из Pet</a:t>
            </a:r>
            <a:endParaRPr lang="en-US" sz="1800" dirty="0"/>
          </a:p>
          <a:p>
            <a:pPr marL="365760" indent="-365760" algn="l">
              <a:lnSpc>
                <a:spcPct val="102000"/>
              </a:lnSpc>
              <a:buSzPct val="100000"/>
              <a:buChar char="•"/>
            </a:pPr>
            <a:r>
              <a:rPr lang="en-US" sz="180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Room Database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8201" y="1003792"/>
            <a:ext cx="10972526" cy="512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950" b="1" kern="100" spc="-40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Игровая механика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730660">
            <a:off x="8466794" y="26970"/>
            <a:ext cx="1562061" cy="15621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2354" y="2110148"/>
            <a:ext cx="3715848" cy="1701800"/>
          </a:xfrm>
          <a:prstGeom prst="roundRect">
            <a:avLst>
              <a:gd name="adj" fmla="val 25074"/>
            </a:avLst>
          </a:prstGeom>
          <a:solidFill>
            <a:srgbClr val="E6F0F7"/>
          </a:solidFill>
          <a:ln/>
        </p:spPr>
      </p:sp>
      <p:sp>
        <p:nvSpPr>
          <p:cNvPr id="5" name="Text 2"/>
          <p:cNvSpPr/>
          <p:nvPr/>
        </p:nvSpPr>
        <p:spPr>
          <a:xfrm>
            <a:off x="720948" y="2358575"/>
            <a:ext cx="3258659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86080" indent="-386080" algn="l">
              <a:lnSpc>
                <a:spcPct val="1050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Экономика: старт 500 </a:t>
            </a:r>
            <a:r>
              <a:rPr lang="en-US" sz="1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💰</a:t>
            </a:r>
            <a:r>
              <a:rPr lang="en-US" sz="19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, daily bonus +50, спонсоры 30%, пристройство +200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512895" y="2110148"/>
            <a:ext cx="6951985" cy="1701800"/>
          </a:xfrm>
          <a:prstGeom prst="roundRect">
            <a:avLst>
              <a:gd name="adj" fmla="val 25074"/>
            </a:avLst>
          </a:prstGeom>
          <a:solidFill>
            <a:srgbClr val="E6F0F7"/>
          </a:solidFill>
          <a:ln/>
        </p:spPr>
      </p:sp>
      <p:sp>
        <p:nvSpPr>
          <p:cNvPr id="7" name="Text 4"/>
          <p:cNvSpPr/>
          <p:nvPr/>
        </p:nvSpPr>
        <p:spPr>
          <a:xfrm>
            <a:off x="4741489" y="2358575"/>
            <a:ext cx="6494796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86080" indent="-386080" algn="l">
              <a:lnSpc>
                <a:spcPct val="1050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Магазин: обычный корм — 10 </a:t>
            </a:r>
            <a:r>
              <a:rPr lang="en-US" sz="1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💰</a:t>
            </a:r>
            <a:r>
              <a:rPr lang="en-US" sz="19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и +20 голода; премиум корм — 30 </a:t>
            </a:r>
            <a:r>
              <a:rPr lang="en-US" sz="1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💰</a:t>
            </a:r>
            <a:r>
              <a:rPr lang="en-US" sz="19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и +50 голода; таблетка — 25 </a:t>
            </a:r>
            <a:r>
              <a:rPr lang="en-US" sz="1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💰</a:t>
            </a:r>
            <a:r>
              <a:rPr lang="en-US" sz="19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и +40 здоровья; игрушка — 15 </a:t>
            </a:r>
            <a:r>
              <a:rPr lang="en-US" sz="19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💰</a:t>
            </a:r>
            <a:r>
              <a:rPr lang="en-US" sz="19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 и +30 настроения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92354" y="4116748"/>
            <a:ext cx="5565040" cy="1701800"/>
          </a:xfrm>
          <a:prstGeom prst="roundRect">
            <a:avLst>
              <a:gd name="adj" fmla="val 25074"/>
            </a:avLst>
          </a:prstGeom>
          <a:solidFill>
            <a:srgbClr val="E6F0F7"/>
          </a:solidFill>
          <a:ln/>
        </p:spPr>
      </p:sp>
      <p:sp>
        <p:nvSpPr>
          <p:cNvPr id="9" name="Text 6"/>
          <p:cNvSpPr/>
          <p:nvPr/>
        </p:nvSpPr>
        <p:spPr>
          <a:xfrm>
            <a:off x="720948" y="4365175"/>
            <a:ext cx="5107852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86080" indent="-386080" algn="l">
              <a:lnSpc>
                <a:spcPct val="1050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Болезни: при голоде/настроении &lt;20 в течение 2 дней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62087" y="4116748"/>
            <a:ext cx="5102792" cy="1701800"/>
          </a:xfrm>
          <a:prstGeom prst="roundRect">
            <a:avLst>
              <a:gd name="adj" fmla="val 25074"/>
            </a:avLst>
          </a:prstGeom>
          <a:solidFill>
            <a:srgbClr val="E6F0F7"/>
          </a:solidFill>
          <a:ln/>
        </p:spPr>
      </p:sp>
      <p:sp>
        <p:nvSpPr>
          <p:cNvPr id="11" name="Text 8"/>
          <p:cNvSpPr/>
          <p:nvPr/>
        </p:nvSpPr>
        <p:spPr>
          <a:xfrm>
            <a:off x="6590682" y="4365175"/>
            <a:ext cx="4645603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86080" indent="-386080" algn="l">
              <a:lnSpc>
                <a:spcPct val="1050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Ежедневные задания (3 случайных); 6 достижений; случайные события</a:t>
            </a:r>
            <a:endParaRPr lang="en-US" sz="19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0919361" y="6501740"/>
            <a:ext cx="1272639" cy="35626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3278"/>
            <a:ext cx="115821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100" spc="18" dirty="0">
                <a:solidFill>
                  <a:srgbClr val="4F587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ТЕХНИЧЕСКИЕ ОСОБЕННОСТИ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856374"/>
            <a:ext cx="10972526" cy="39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950" b="1" kern="100" spc="-29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Вау-фичи </a:t>
            </a:r>
            <a:r>
              <a:rPr lang="en-US" sz="2950" b="1" kern="100" spc="-29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⭐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457188" y="1809104"/>
            <a:ext cx="10972526" cy="647700"/>
          </a:xfrm>
          <a:prstGeom prst="roundRect">
            <a:avLst>
              <a:gd name="adj" fmla="val 49999"/>
            </a:avLst>
          </a:prstGeom>
          <a:solidFill>
            <a:srgbClr val="E6F0F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" y="1910704"/>
            <a:ext cx="388928" cy="444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14536" y="1926610"/>
            <a:ext cx="8762781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9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WorkManager: голод уменьшается каждые 3 часа, даже если приложение закрыто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188" y="2609204"/>
            <a:ext cx="10972526" cy="647700"/>
          </a:xfrm>
          <a:prstGeom prst="roundRect">
            <a:avLst>
              <a:gd name="adj" fmla="val 49999"/>
            </a:avLst>
          </a:prstGeom>
          <a:solidFill>
            <a:srgbClr val="E6F0F7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" y="2710804"/>
            <a:ext cx="444489" cy="444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14536" y="2726710"/>
            <a:ext cx="8762781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9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Push-уведомления: «N питомцев голодны!»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457188" y="3409304"/>
            <a:ext cx="10972526" cy="647700"/>
          </a:xfrm>
          <a:prstGeom prst="roundRect">
            <a:avLst>
              <a:gd name="adj" fmla="val 49999"/>
            </a:avLst>
          </a:prstGeom>
          <a:solidFill>
            <a:srgbClr val="E6F0F7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" y="3510904"/>
            <a:ext cx="444489" cy="444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14536" y="3526810"/>
            <a:ext cx="8762781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9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Звуки питомцев через MediaPlayer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457188" y="4209404"/>
            <a:ext cx="10972526" cy="647700"/>
          </a:xfrm>
          <a:prstGeom prst="roundRect">
            <a:avLst>
              <a:gd name="adj" fmla="val 49999"/>
            </a:avLst>
          </a:prstGeom>
          <a:solidFill>
            <a:srgbClr val="E6F0F7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" y="4311004"/>
            <a:ext cx="444489" cy="444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514536" y="4326910"/>
            <a:ext cx="8762781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9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Анимации: сердечки </a:t>
            </a:r>
            <a:r>
              <a:rPr 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❤️</a:t>
            </a:r>
            <a:r>
              <a:rPr lang="en-US" sz="14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, fade-in, ripple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457188" y="5009504"/>
            <a:ext cx="10972526" cy="647700"/>
          </a:xfrm>
          <a:prstGeom prst="roundRect">
            <a:avLst>
              <a:gd name="adj" fmla="val 49999"/>
            </a:avLst>
          </a:prstGeom>
          <a:solidFill>
            <a:srgbClr val="E6F0F7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4" y="5111104"/>
            <a:ext cx="444489" cy="444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14536" y="5127010"/>
            <a:ext cx="8762781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4480" indent="-284480" algn="l">
              <a:lnSpc>
                <a:spcPct val="9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Ежедневные задания + достижения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967025">
            <a:off x="9547455" y="3650386"/>
            <a:ext cx="1562061" cy="1562100"/>
          </a:xfrm>
          <a:prstGeom prst="rect">
            <a:avLst/>
          </a:prstGeom>
        </p:spPr>
      </p:pic>
      <p:sp>
        <p:nvSpPr>
          <p:cNvPr id="20" name="Прямоугольник 19"/>
          <p:cNvSpPr/>
          <p:nvPr/>
        </p:nvSpPr>
        <p:spPr>
          <a:xfrm>
            <a:off x="10919361" y="6501740"/>
            <a:ext cx="1272639" cy="35626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890" y="471523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28" dirty="0">
                <a:solidFill>
                  <a:srgbClr val="4F587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СКРИНШОТЫ ПРИЛОЖЕНИЯ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725263"/>
            <a:ext cx="10972526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b="1" kern="100" spc="-46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Демонстрация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33385" y="1376477"/>
            <a:ext cx="2514537" cy="4926211"/>
          </a:xfrm>
          <a:prstGeom prst="roundRect">
            <a:avLst>
              <a:gd name="adj" fmla="val 1697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11180" y="1572374"/>
            <a:ext cx="2158946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Главный экран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25" y="2692118"/>
            <a:ext cx="1739856" cy="34327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52714" y="1376477"/>
            <a:ext cx="2514537" cy="4926211"/>
          </a:xfrm>
          <a:prstGeom prst="roundRect">
            <a:avLst>
              <a:gd name="adj" fmla="val 1697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3530510" y="1572374"/>
            <a:ext cx="2158946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Экран деталей</a:t>
            </a:r>
            <a:endParaRPr lang="en-US" sz="2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151" y="2692118"/>
            <a:ext cx="1789564" cy="34288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72044" y="1376477"/>
            <a:ext cx="2514537" cy="4926211"/>
          </a:xfrm>
          <a:prstGeom prst="roundRect">
            <a:avLst>
              <a:gd name="adj" fmla="val 16970"/>
            </a:avLst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6332377" y="1572374"/>
            <a:ext cx="2193771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Магазин</a:t>
            </a:r>
            <a:endParaRPr lang="en-US" sz="2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985" y="2554997"/>
            <a:ext cx="1790655" cy="343872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991373" y="1376477"/>
            <a:ext cx="2514537" cy="4926211"/>
          </a:xfrm>
          <a:prstGeom prst="roundRect">
            <a:avLst>
              <a:gd name="adj" fmla="val 16970"/>
            </a:avLst>
          </a:prstGeom>
          <a:solidFill>
            <a:srgbClr val="FFFFFF"/>
          </a:solidFill>
          <a:ln/>
        </p:spPr>
      </p:sp>
      <p:sp>
        <p:nvSpPr>
          <p:cNvPr id="14" name="Text 9"/>
          <p:cNvSpPr/>
          <p:nvPr/>
        </p:nvSpPr>
        <p:spPr>
          <a:xfrm>
            <a:off x="8991373" y="1572374"/>
            <a:ext cx="2514537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80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Статистика</a:t>
            </a:r>
            <a:endParaRPr lang="en-US" sz="2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2823" y="2351797"/>
            <a:ext cx="1691538" cy="3695502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10919361" y="6501740"/>
            <a:ext cx="1272639" cy="35626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307743">
            <a:off x="8379354" y="-96206"/>
            <a:ext cx="1562061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30437"/>
            <a:ext cx="670543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28" dirty="0">
                <a:solidFill>
                  <a:srgbClr val="4F587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ИТОГИ ПРОЕКТА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743757"/>
            <a:ext cx="6248244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600" b="1" kern="100" spc="-46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Заключение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09585" y="2813645"/>
            <a:ext cx="6248244" cy="2191147"/>
          </a:xfrm>
          <a:prstGeom prst="roundRect">
            <a:avLst>
              <a:gd name="adj" fmla="val 19474"/>
            </a:avLst>
          </a:prstGeom>
          <a:solidFill>
            <a:srgbClr val="FFF7E6"/>
          </a:solidFill>
          <a:ln>
            <a:solidFill>
              <a:srgbClr val="8CC463"/>
            </a:solidFill>
          </a:ln>
        </p:spPr>
      </p:sp>
      <p:sp>
        <p:nvSpPr>
          <p:cNvPr id="5" name="Text 3"/>
          <p:cNvSpPr/>
          <p:nvPr/>
        </p:nvSpPr>
        <p:spPr>
          <a:xfrm>
            <a:off x="863578" y="3220045"/>
            <a:ext cx="5740256" cy="1784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47040" indent="-447040" algn="l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Результаты работы</a:t>
            </a:r>
            <a:endParaRPr lang="en-US" sz="2200" dirty="0"/>
          </a:p>
          <a:p>
            <a:pPr marL="447040" indent="-447040" algn="l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Освоенные технологии</a:t>
            </a:r>
            <a:endParaRPr lang="en-US" sz="2200" dirty="0"/>
          </a:p>
          <a:p>
            <a:pPr marL="447040" indent="-447040" algn="l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Перспективы развития</a:t>
            </a:r>
            <a:endParaRPr lang="en-US" sz="2200" dirty="0"/>
          </a:p>
          <a:p>
            <a:pPr marL="447040" indent="-447040" algn="l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«Спасибо за внимание!»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647700"/>
            <a:ext cx="4876678" cy="4876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172200"/>
            <a:ext cx="12191695" cy="685800"/>
          </a:xfrm>
          <a:custGeom>
            <a:avLst/>
            <a:gdLst/>
            <a:ahLst/>
            <a:cxnLst/>
            <a:rect l="l" t="t" r="r" b="b"/>
            <a:pathLst>
              <a:path w="12191695" h="685800">
                <a:moveTo>
                  <a:pt x="342891" y="0"/>
                </a:moveTo>
                <a:lnTo>
                  <a:pt x="11848804" y="0"/>
                </a:lnTo>
                <a:arcTo wR="342891" hR="342900" stAng="16200000" swAng="5400000"/>
                <a:lnTo>
                  <a:pt x="12191695" y="685800"/>
                </a:lnTo>
                <a:lnTo>
                  <a:pt x="0" y="685800"/>
                </a:lnTo>
                <a:lnTo>
                  <a:pt x="0" y="342900"/>
                </a:lnTo>
                <a:arcTo wR="342891" hR="342900" stAng="10800000" swAng="5400000"/>
                <a:close/>
              </a:path>
            </a:pathLst>
          </a:custGeom>
          <a:solidFill>
            <a:srgbClr val="8CC463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883" y="476377"/>
            <a:ext cx="5759533" cy="1941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5200" b="1" kern="100" spc="-52" dirty="0" err="1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Приют</a:t>
            </a:r>
            <a:r>
              <a:rPr lang="en-US" sz="5200" b="1" kern="100" spc="-52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 </a:t>
            </a:r>
            <a:endParaRPr lang="ru-RU" sz="5200" b="1" kern="100" spc="-52" dirty="0" smtClean="0">
              <a:solidFill>
                <a:srgbClr val="1F2A5C"/>
              </a:solidFill>
              <a:latin typeface="Noto Sans Bold" pitchFamily="34" charset="0"/>
              <a:ea typeface="Noto Sans Bold" pitchFamily="34" charset="-122"/>
              <a:cs typeface="Noto Sans Bold" pitchFamily="34" charset="-120"/>
            </a:endParaRPr>
          </a:p>
          <a:p>
            <a:pPr marL="0" indent="0" algn="l">
              <a:lnSpc>
                <a:spcPct val="82000"/>
              </a:lnSpc>
              <a:buNone/>
            </a:pPr>
            <a:r>
              <a:rPr lang="en-US" sz="5200" b="1" kern="100" spc="-52" dirty="0" smtClean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«</a:t>
            </a:r>
            <a:r>
              <a:rPr lang="en-US" sz="5200" b="1" kern="100" spc="-52" dirty="0">
                <a:solidFill>
                  <a:srgbClr val="1F2A5C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Тёплые Лапки»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09585" y="2453918"/>
            <a:ext cx="5363703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1F2A5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Мобильное приложение-симулятор заботы о животных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67821" y="5165767"/>
            <a:ext cx="4413194" cy="77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F587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Автор: </a:t>
            </a:r>
            <a:r>
              <a:rPr lang="ru-RU" sz="1500" dirty="0" smtClean="0">
                <a:solidFill>
                  <a:srgbClr val="4F587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Черевенко А.В.</a:t>
            </a:r>
            <a:endParaRPr lang="ru-RU" sz="15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500" kern="900" dirty="0" err="1" smtClean="0">
                <a:solidFill>
                  <a:srgbClr val="4F587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Группа</a:t>
            </a:r>
            <a:r>
              <a:rPr lang="ru-RU" sz="1500" kern="900" dirty="0" smtClean="0">
                <a:solidFill>
                  <a:srgbClr val="4F587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: 53-02</a:t>
            </a:r>
            <a:endParaRPr lang="en-US" sz="1500" kern="900" dirty="0"/>
          </a:p>
        </p:txBody>
      </p:sp>
      <p:sp>
        <p:nvSpPr>
          <p:cNvPr id="5" name="Shape 3"/>
          <p:cNvSpPr/>
          <p:nvPr/>
        </p:nvSpPr>
        <p:spPr>
          <a:xfrm>
            <a:off x="609585" y="5791200"/>
            <a:ext cx="1797402" cy="63500"/>
          </a:xfrm>
          <a:prstGeom prst="rect">
            <a:avLst/>
          </a:prstGeom>
          <a:solidFill>
            <a:srgbClr val="F7C6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987" y="5041900"/>
            <a:ext cx="1562061" cy="15621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982" y="0"/>
            <a:ext cx="5998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70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359</Words>
  <Application>Microsoft Office PowerPoint</Application>
  <PresentationFormat>Широкоэкранный</PresentationFormat>
  <Paragraphs>82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Noto Sans Bold</vt:lpstr>
      <vt:lpstr>Arial</vt:lpstr>
      <vt:lpstr>Noto Color Emoji</vt:lpstr>
      <vt:lpstr>Noto Sans SemiBold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Черевенко Анастасия Витальевна</dc:creator>
  <cp:lastModifiedBy>Черевенко Анастасия Витальевна</cp:lastModifiedBy>
  <cp:revision>11</cp:revision>
  <dcterms:created xsi:type="dcterms:W3CDTF">2026-10-08T10:19:14Z</dcterms:created>
  <dcterms:modified xsi:type="dcterms:W3CDTF">2026-10-08T10:27:48Z</dcterms:modified>
</cp:coreProperties>
</file>